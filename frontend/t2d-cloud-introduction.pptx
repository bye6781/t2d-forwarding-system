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4572000" cy="4572000"/>
          </a:xfrm>
          <a:prstGeom prst="round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3657600"/>
            <a:ext cx="5486400" cy="4572000"/>
          </a:xfrm>
          <a:prstGeom prst="round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85039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T2D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D4FF"/>
                </a:solidFill>
                <a:latin typeface="Microsoft YaHei"/>
              </a:defRPr>
            </a:pPr>
            <a:r>
              <a:t>Telegram → 钉钉 智能转发平台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C4DE"/>
                </a:solidFill>
                <a:latin typeface="Microsoft YaHei"/>
              </a:defRPr>
            </a:pPr>
            <a:r>
              <a:t>SaaS 多租户 · AI 翻译 · 高级过滤 · 消息模板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206240"/>
            <a:ext cx="850392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V2.0 · 项目介绍与功能使用指南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2120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5A5"/>
                </a:solidFill>
                <a:latin typeface="Microsoft YaHei"/>
              </a:defRPr>
            </a:pPr>
            <a:r>
              <a:t>2026 年 7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📋 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产品概述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仪表盘总览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Telegram 账号管理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钉钉机器人管理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转发映射配置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231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231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转发引擎控制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231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转发记录查询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高级过滤规则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消息模板定制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媒体文件配置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AI 智能翻译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3832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383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团队管理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832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383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订阅与配额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7033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7033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审计日志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7033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7033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平台管理后台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产品概述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T2D Cloud — 一站式 Telegram 到钉钉消息转发解决方案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产品定位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多租户 SaaS 平台，支持团队独立隔离使用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将 Telegram 频道/群组消息实时转发到钉钉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支持 AI 翻译、高级过滤、消息模板等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零代码配置，Web 界面一站式管理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68880"/>
            <a:ext cx="123444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2542032"/>
            <a:ext cx="960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实时转发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消息秒级同步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468880"/>
            <a:ext cx="123444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2542032"/>
            <a:ext cx="960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10896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 翻译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42900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DeepSeek 自动翻译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468880"/>
            <a:ext cx="123444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2542032"/>
            <a:ext cx="960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0896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多租户隔离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2900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数据安全独立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2468880"/>
            <a:ext cx="123444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52760" y="2542032"/>
            <a:ext cx="960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310896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可视化管理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342900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仪表盘一目了然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212080"/>
            <a:ext cx="1325880" cy="41148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30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Python 3.11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3160" y="5212080"/>
            <a:ext cx="1325880" cy="41148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60" y="5230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53"/>
                </a:solidFill>
                <a:latin typeface="Microsoft YaHei"/>
              </a:defRPr>
            </a:pPr>
            <a:r>
              <a:t>FastAPI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31920" y="5212080"/>
            <a:ext cx="1325880" cy="41148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5230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40679" y="5212080"/>
            <a:ext cx="1325880" cy="41148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79" y="5230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FA5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5212080"/>
            <a:ext cx="1325880" cy="41148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5230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CFF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5212080"/>
            <a:ext cx="1325880" cy="41148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5230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00"/>
                </a:solidFill>
                <a:latin typeface="Microsoft YaHei"/>
              </a:defRPr>
            </a:pPr>
            <a:r>
              <a:t>Telethon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66959" y="5212080"/>
            <a:ext cx="1325880" cy="41148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59" y="5230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545"/>
                </a:solidFill>
                <a:latin typeface="Microsoft YaHei"/>
              </a:defRPr>
            </a:pPr>
            <a:r>
              <a:t>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🏗️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多租户 SaaS 架构，前后端分离，Docker 容器化部署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560320" cy="25603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66544"/>
            <a:ext cx="23774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🖥️ 前端层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Vue 3 + Element 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单页应用 (SPA)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ECharts 数据可视化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响应式暗色主题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JWT 认证拦截器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011680"/>
            <a:ext cx="2560320" cy="25603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066544"/>
            <a:ext cx="237744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853"/>
                </a:solidFill>
                <a:latin typeface="Microsoft YaHei"/>
              </a:defRPr>
            </a:pPr>
            <a:r>
              <a:t>⚙️ 后端层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FastAPI 异步框架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Telethon Telegram 连接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DingTalk Webhook 推送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DeepSeek AI 翻译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多级过滤引擎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011680"/>
            <a:ext cx="2560320" cy="25603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2066544"/>
            <a:ext cx="2377440" cy="381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66CC"/>
                </a:solidFill>
                <a:latin typeface="Microsoft YaHei"/>
              </a:defRPr>
            </a:pPr>
            <a:r>
              <a:t>💾 数据层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PostgreSQL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asyncpg 连接池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租户数据隔离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审计日志存储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媒体文件管理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2011680"/>
            <a:ext cx="2286000" cy="25603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2066544"/>
            <a:ext cx="2103120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2148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CFF"/>
                </a:solidFill>
                <a:latin typeface="Microsoft YaHei"/>
              </a:defRPr>
            </a:pPr>
            <a:r>
              <a:t>🐳 部署层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Docker 容器化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单端口部署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热重启更新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会话文件持久化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• 上传文件管理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937760"/>
            <a:ext cx="11338560" cy="13716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029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🔐 多租户隔离机制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94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每个租户独立数据库记录隔离（tenant_id）  •  会话文件按租户目录存储  •  媒体文件按租户隔离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JWT Token 内嵌 tenant_id，请求级上下文切换  •  配额按租户独立计算  •  审计日志按租户记录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仪表盘总览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实时掌握系统运行状态，数据一目了然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560320" cy="1463040"/>
          </a:xfrm>
          <a:prstGeom prst="roundRect">
            <a:avLst/>
          </a:prstGeom>
          <a:solidFill>
            <a:srgbClr val="1A233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Microsoft YaHei"/>
              </a:defRPr>
            </a:pPr>
            <a:r>
              <a:t>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今日消息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实时统计当天</a:t>
            </a:r>
            <a:br/>
            <a:r>
              <a:t>转发消息数量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11680"/>
            <a:ext cx="2560320" cy="1463040"/>
          </a:xfrm>
          <a:prstGeom prst="roundRect">
            <a:avLst/>
          </a:prstGeom>
          <a:solidFill>
            <a:srgbClr val="1A2332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Microsoft YaHei"/>
              </a:defRPr>
            </a:pPr>
            <a:r>
              <a:t>剩余配额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当前套餐</a:t>
            </a:r>
            <a:br/>
            <a:r>
              <a:t>剩余可用额度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2560320" cy="1463040"/>
          </a:xfrm>
          <a:prstGeom prst="roundRect">
            <a:avLst/>
          </a:prstGeom>
          <a:solidFill>
            <a:srgbClr val="1A2332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Microsoft YaHei"/>
              </a:defRPr>
            </a:pPr>
            <a:r>
              <a:t>已连接账号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Telegram 账号</a:t>
            </a:r>
            <a:br/>
            <a:r>
              <a:t>在线连接数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011680"/>
            <a:ext cx="2560320" cy="1463040"/>
          </a:xfrm>
          <a:prstGeom prst="roundRect">
            <a:avLst/>
          </a:prstGeom>
          <a:solidFill>
            <a:srgbClr val="1A2332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Microsoft YaHei"/>
              </a:defRPr>
            </a:pPr>
            <a: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CFF"/>
                </a:solidFill>
                <a:latin typeface="Microsoft YaHei"/>
              </a:defRPr>
            </a:pPr>
            <a:r>
              <a:t>活跃映射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正在运行的</a:t>
            </a:r>
            <a:br/>
            <a:r>
              <a:t>转发映射规则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📈 数据图表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5303520" cy="21945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7 日消息趋势折线图 — 接收消息 vs 成功转发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消息类型分布饼图 — 文本/图片/视频/语音/文档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系统状态面板 — TG 连接、钉钉机器人、引擎状态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配额使用进度条 — 直观展示用量占比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最近活动时间线 — 最新操作与系统事件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06240"/>
            <a:ext cx="5303520" cy="21945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00"/>
                </a:solidFill>
                <a:latin typeface="Microsoft YaHei"/>
              </a:defRPr>
            </a:pPr>
            <a:r>
              <a:t>⚡ 自动刷新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63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页面每 30 秒自动刷新数据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ECharts 图表支持暗色主题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响应式布局，支持移动端访问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所有数据均为租户隔离的实时数据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Telegram 账号管理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连接 Telegram 用户账号作为消息源，支持 2FA 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📝 使用步骤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5029200" cy="685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获取 API 凭证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14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访问 my.telegram.org</a:t>
            </a:r>
            <a:br/>
            <a:r>
              <a:t>获取 API ID 和 API Hash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5029200" cy="685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2️⃣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添加账号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91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点击「添加账号」</a:t>
            </a:r>
            <a:br/>
            <a:r>
              <a:t>填写名称、API ID、Hash、手机号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5029200" cy="685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发送验证码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069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点击「验证连接」</a:t>
            </a:r>
            <a:br/>
            <a:r>
              <a:t>系统向 Telegram 发送验证码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00600"/>
            <a:ext cx="5029200" cy="685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4️⃣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输入验证码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846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在弹窗中输入验证码</a:t>
            </a:r>
            <a:br/>
            <a:r>
              <a:t>如有 2FA 还需输入第二步密码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5029200" cy="685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623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5️⃣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连接成功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6235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状态变为「已授权」</a:t>
            </a:r>
            <a:br/>
            <a:r>
              <a:t>账号可用于消息转发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00"/>
                </a:solidFill>
                <a:latin typeface="Microsoft YaHei"/>
              </a:defRPr>
            </a:pPr>
            <a:r>
              <a:t>💡 重要说明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468880"/>
            <a:ext cx="5303520" cy="3931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使用 Telegram 用户账号（非 Bot API）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用户账号可访问 Bot 无法加入的频道/群组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免费套餐限 1 个账号，付费无限制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支持两步验证（2FA）安全密码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会话文件按租户隔离存储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系统重启后自动重连已授权账号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手机号脱敏显示，保护隐私安全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可随时断开连接或删除账号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钉钉机器人管理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配置钉钉 Webhook 机器人作为消息推送目标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📝 使用步骤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5029200" cy="77724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42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创建钉钉机器人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4203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在钉钉群 → 设置 → 智能群助手</a:t>
            </a:r>
            <a:br/>
            <a:r>
              <a:t>→ 添加机器人 → 自定义 Webhook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5029200" cy="77724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2️⃣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10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获取配置信息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41071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复制 Webhook URL</a:t>
            </a:r>
            <a:br/>
            <a:r>
              <a:t>设置加签方式（推荐 HMAC-SHA256）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029200" cy="77724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79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添加到系统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7939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点击「添加机器人」</a:t>
            </a:r>
            <a:br/>
            <a:r>
              <a:t>填写名称、Webhook URL、密钥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19"/>
            <a:ext cx="5029200" cy="77724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4807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4️⃣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4807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测试连接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148071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点击「测试」按钮</a:t>
            </a:r>
            <a:br/>
            <a:r>
              <a:t>发送测试消息验证配置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icrosoft YaHei"/>
              </a:defRPr>
            </a:pPr>
            <a:r>
              <a:t>⚙️ 功能特性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468880"/>
            <a:ext cx="5303520" cy="3931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支持 HMAC-SHA256 加签验证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Webhook URL 脱敏显示 + 一键复制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内置测试功能，一键验证连通性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启用/禁用开关，随时控制状态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免费套餐限 2 个机器人，付费无限制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每个机器人限速 20 条/分钟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全局并发上限 50 条同时发送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HTTP 超时 10 秒自动重试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🗺️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转发映射配置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定义消息从哪个 Telegram 源转发到哪些钉钉机器人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155680" cy="13716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💡 核心概念：一条映射 = 一个 Telegram 聊天源 → 多个钉钉机器人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源聊天 ID（Chat ID）：Telegram 频道/群组的唯一标识，可通过转发消息给 @userinfobot 获取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每条映射可独立控制是否启用翻译和高级过滤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一个源可以同时映射到多个钉钉机器人，实现一对多分发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📝 配置步骤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获取 Telegram 源聊天的 Chat ID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点击「添加映射」按钮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输入源聊天 ID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选择目标钉钉机器人（可多选）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按需开启翻译和过滤功能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300">
                <a:solidFill>
                  <a:srgbClr val="B0C4DE"/>
                </a:solidFill>
                <a:latin typeface="Microsoft YaHei"/>
              </a:rPr>
              <a:t>保存并启用映射规则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CFF"/>
                </a:solidFill>
                <a:latin typeface="Microsoft YaHei"/>
              </a:defRPr>
            </a:pPr>
            <a:r>
              <a:t>📊 套餐限制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4297680"/>
            <a:ext cx="1828800" cy="45720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免费版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00"/>
                </a:solidFill>
                <a:latin typeface="Microsoft YaHei"/>
              </a:defRPr>
            </a:pPr>
            <a:r>
              <a:t>3 条映射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937760"/>
            <a:ext cx="1828800" cy="457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专业版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无限制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转发引擎控制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一键启动/停止消息转发引擎，实时监控运行状态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474720" cy="228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🔘 引擎状态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运行中 / 已停止 状态指示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已连接账号数量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今日转发消息数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活跃映射规则数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474720" cy="228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Microsoft YaHei"/>
              </a:defRPr>
            </a:pPr>
            <a:r>
              <a:t>🎮 控制面板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▶️ 启动引擎 — 开始消息转发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⏹️ 停止引擎 — 暂停所有转发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🔄 刷新状态 — 更新实时数据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账号连接状态一览表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🔄 消息处理流水线（15 个阶段）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Microsoft YaHei"/>
              </a:defRPr>
            </a:pPr>
            <a:r>
              <a:t>消息提取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853"/>
                </a:solidFill>
                <a:latin typeface="Microsoft YaHei"/>
              </a:defRPr>
            </a:pPr>
            <a:r>
              <a:t>内容转换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BFA5"/>
                </a:solidFill>
                <a:latin typeface="Microsoft YaHei"/>
              </a:defRPr>
            </a:pPr>
            <a:r>
              <a:t>去重检查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66CC"/>
                </a:solidFill>
                <a:latin typeface="Microsoft YaHei"/>
              </a:defRPr>
            </a:pPr>
            <a:r>
              <a:t>配额检查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85CFF"/>
                </a:solidFill>
                <a:latin typeface="Microsoft YaHei"/>
              </a:defRPr>
            </a:pPr>
            <a:r>
              <a:t>映射匹配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F00"/>
                </a:solidFill>
                <a:latin typeface="Microsoft YaHei"/>
              </a:defRPr>
            </a:pPr>
            <a:r>
              <a:t>过滤处理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4545"/>
                </a:solidFill>
                <a:latin typeface="Microsoft YaHei"/>
              </a:defRPr>
            </a:pPr>
            <a:r>
              <a:t>类型检测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Microsoft YaHei"/>
              </a:defRPr>
            </a:pPr>
            <a:r>
              <a:t>高级过滤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853"/>
                </a:solidFill>
                <a:latin typeface="Microsoft YaHei"/>
              </a:defRPr>
            </a:pPr>
            <a:r>
              <a:t>@提及过滤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19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19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66CC"/>
                </a:solidFill>
                <a:latin typeface="Microsoft YaHei"/>
              </a:defRPr>
            </a:pPr>
            <a:r>
              <a:t>媒体处理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9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85CFF"/>
                </a:solidFill>
                <a:latin typeface="Microsoft YaHei"/>
              </a:defRPr>
            </a:pPr>
            <a:r>
              <a:t>发送者解析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1540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540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F00"/>
                </a:solidFill>
                <a:latin typeface="Microsoft YaHei"/>
              </a:defRPr>
            </a:pPr>
            <a:r>
              <a:t>模板渲染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264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4545"/>
                </a:solidFill>
                <a:latin typeface="Microsoft YaHei"/>
              </a:defRPr>
            </a:pPr>
            <a:r>
              <a:t>钉钉推送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8440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69879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69879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BFA5"/>
                </a:solidFill>
                <a:latin typeface="Microsoft YaHei"/>
              </a:defRPr>
            </a:pPr>
            <a:r>
              <a:t>记录保存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79" y="5074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247120" y="5029200"/>
            <a:ext cx="713232" cy="5029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47120" y="50749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Microsoft YaHei"/>
              </a:defRPr>
            </a:pPr>
            <a:r>
              <a:t>用量统计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2011680"/>
            <a:ext cx="3474720" cy="228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00"/>
                </a:solidFill>
                <a:latin typeface="Microsoft YaHei"/>
              </a:defRPr>
            </a:pPr>
            <a:r>
              <a:t>⚠️ 启动条件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24688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至少 1 个已授权的 TG 账号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至少 1 条启用的映射规则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不满足条件会返回错误提示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引擎 30 秒自动刷新状态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转发记录查询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查看所有消息转发的详细记录，支持筛选和分页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155680" cy="914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🔍 筛选条件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D4FF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按状态筛选：成功（绿色）/ 失败（红色）/ 待处理（黄色）     •     按消息类型筛选：文本/图片/视频/语音/文档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1115568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t>聊天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t>目标机器人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186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186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t>内容预览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2186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2186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11155680" cy="45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-1001234567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749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技术群机器人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📷 图片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这是一条测试图片消息...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749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853"/>
                </a:solidFill>
                <a:latin typeface="Microsoft YaHei"/>
              </a:defRPr>
            </a:pPr>
            <a:r>
              <a:t>✅ 成功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2026-07-09 14:30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11155680" cy="457200"/>
          </a:xfrm>
          <a:prstGeom prst="rect">
            <a:avLst/>
          </a:prstGeom>
          <a:solidFill>
            <a:srgbClr val="15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51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-1009876543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运维告警群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💬 文本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服务器 CPU 使用率超过 90%...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853"/>
                </a:solidFill>
                <a:latin typeface="Microsoft YaHei"/>
              </a:defRPr>
            </a:pPr>
            <a:r>
              <a:t>✅ 成功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2026-07-09 14:28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09160"/>
            <a:ext cx="11155680" cy="45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-1005551234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产品讨论组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🎬 视频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产品演示视频...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754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Microsoft YaHei"/>
              </a:defRPr>
            </a:pPr>
            <a:r>
              <a:t>❌ 失败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2026-07-09 14:25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✨ 功能亮点：分页浏览  •  状态筛选  •  类型筛选  •  30 秒自动刷新  •  租户数据隔离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高级过滤规则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6 种规则类型，精确控制哪些消息被转发或过滤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4747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21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关键词包含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48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白名单模式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关键词包含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只有包含指定关键词</a:t>
            </a:r>
            <a:br/>
            <a:r>
              <a:t>的消息才会被转发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4747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21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关键词排除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黑名单模式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关键词排除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包含指定关键词的</a:t>
            </a:r>
            <a:br/>
            <a:r>
              <a:t>消息会被过滤掉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11680"/>
            <a:ext cx="34747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121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CFF"/>
                </a:solidFill>
                <a:latin typeface="Microsoft YaHei"/>
              </a:defRPr>
            </a:pPr>
            <a:r>
              <a:t>正则匹配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148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Regex 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正则匹配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使用正则表达式</a:t>
            </a:r>
            <a:br/>
            <a:r>
              <a:t>灵活匹配消息内容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14800"/>
            <a:ext cx="34747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224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Microsoft YaHei"/>
              </a:defRPr>
            </a:pPr>
            <a:r>
              <a:t>消息类型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251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类型过滤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消息类型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按消息类型放行或拦截</a:t>
            </a:r>
            <a:br/>
            <a:r>
              <a:t>如只转发文本和图片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114800"/>
            <a:ext cx="34747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224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00"/>
                </a:solidFill>
                <a:latin typeface="Microsoft YaHei"/>
              </a:defRPr>
            </a:pPr>
            <a:r>
              <a:t>发送者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51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来源过滤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发送者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按发送者用户名</a:t>
            </a:r>
            <a:br/>
            <a:r>
              <a:t>白名单/黑名单过滤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114800"/>
            <a:ext cx="34747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224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Microsoft YaHei"/>
              </a:defRPr>
            </a:pPr>
            <a:r>
              <a:t>聊天过滤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4251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群组过滤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聊天过滤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按聊天 ID</a:t>
            </a:r>
            <a:br/>
            <a:r>
              <a:t>白名单/黑名单过滤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217920"/>
            <a:ext cx="11155680" cy="4572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🧪 内置规则测试功能：输入消息文本/发送者/类型 → 一键测试 → 查看通过/过滤结果     •     规则按优先级排序执行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消息模板定制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自定义转发消息的格式，支持变量替换和预览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🔧 可用模板变量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86400" cy="384048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963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{source}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963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消息来源名称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963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{time}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96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发送时间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5486400" cy="384048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{sender}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535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发送者昵称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535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{content}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消息内容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5486400" cy="384048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107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{type_icon}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4107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类型图标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4107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{message_type}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410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消息类型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40480"/>
            <a:ext cx="5486400" cy="384048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679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{mention}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8679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@提及文本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8679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{chat_id}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8679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聊天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CFF"/>
                </a:solidFill>
                <a:latin typeface="Microsoft YaHei"/>
              </a:defRPr>
            </a:pPr>
            <a:r>
              <a:t>🎨 类型图标映射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💬  文本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📷  图片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🎬  视频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🎤  语音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📎  文档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📇  联系人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📍  位置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🎭  贴纸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🎵  音频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572000"/>
            <a:ext cx="11155680" cy="20116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Microsoft YaHei"/>
              </a:defRPr>
            </a:pPr>
            <a:r>
              <a:t>👁️ 模板预览功能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选择模板 → 实时预览渲染效果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使用中文示例数据展示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时间自动转换为 UTC+8 北京时间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每个租户可创建多个模板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设置默认模板（星标标识）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一键插入变量按钮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4 种时间格式可选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启用/禁用模板切换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媒体文件配置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控制转发中媒体文件的处理方式：大小限制、类型过滤、缩略图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⚙️ 配置项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86400" cy="8229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文件大小限制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60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1 ~ 100 MB 滑块调节</a:t>
            </a:r>
            <a:br/>
            <a:r>
              <a:t>默认 50 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5486400" cy="8229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允许的类型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图片/视频/文档/语音/音频</a:t>
            </a:r>
            <a:br/>
            <a:r>
              <a:t>复选框自由组合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5486400" cy="8229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🖼️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Microsoft YaHei"/>
              </a:defRPr>
            </a:pPr>
            <a:r>
              <a:t>缩略图设置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480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开关 + 宽度(320px)</a:t>
            </a:r>
            <a:br/>
            <a:r>
              <a:t>+ 质量(85%)调节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5486400" cy="8229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CFF"/>
                </a:solidFill>
                <a:latin typeface="Microsoft YaHei"/>
              </a:defRPr>
            </a:pPr>
            <a:r>
              <a:t>链接模式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40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超大文件转为链接发送</a:t>
            </a:r>
            <a:br/>
            <a:r>
              <a:t>不直接转发文件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00"/>
                </a:solidFill>
                <a:latin typeface="Microsoft YaHei"/>
              </a:defRPr>
            </a:pPr>
            <a:r>
              <a:t>💡 处理规则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468880"/>
            <a:ext cx="5303520" cy="3931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贴纸（Sticker）始终跳过不转发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图片统一保存为 .jpg 格式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视频/文档保留原始文件名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文件存储在租户隔离目录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通过公网 URL 提供文件访问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内置配置测试功能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输入媒体类型 + 大小 → 验证是否通过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超限时自动降级为链接模式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 智能翻译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DeepSeek AI 驱动，自动翻译非中文消息为中文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🔄 工作流程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280160" cy="1645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接收消息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收到 Telegram</a:t>
            </a:r>
            <a:br/>
            <a:r>
              <a:t>原始消息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468880"/>
            <a:ext cx="1280160" cy="1645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560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语言检测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判断是否包含</a:t>
            </a:r>
            <a:br/>
            <a:r>
              <a:t>&gt;30% 中文字符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468880"/>
            <a:ext cx="1280160" cy="1645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560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 翻译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调用 DeepSeek API</a:t>
            </a:r>
            <a:br/>
            <a:r>
              <a:t>翻译为目标语言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468880"/>
            <a:ext cx="1280160" cy="1645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2560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错误回退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翻译失败时</a:t>
            </a:r>
            <a:br/>
            <a:r>
              <a:t>使用原始文本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icrosoft YaHei"/>
              </a:defRPr>
            </a:pPr>
            <a:r>
              <a:t>⚙️ 配置方式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468880"/>
            <a:ext cx="5303520" cy="1645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系统设置页面 → 翻译配置面板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开启/关闭翻译功能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填入 DeepSeek API Key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选择翻译模型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Microsoft YaHei"/>
              </a:defRPr>
            </a:pPr>
            <a:r>
              <a:t>📊 性能参数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29200"/>
            <a:ext cx="2560320" cy="13716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翻译缓存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5000 条上限</a:t>
            </a:r>
            <a:br/>
            <a:r>
              <a:t>自动淘汰旧条目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5029200"/>
            <a:ext cx="2560320" cy="13716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Temperature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0.1</a:t>
            </a:r>
            <a:br/>
            <a:r>
              <a:t>确保翻译一致性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029200"/>
            <a:ext cx="2560320" cy="13716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  <a:latin typeface="Microsoft YaHei"/>
              </a:defRPr>
            </a:pPr>
            <a:r>
              <a:t>超时时间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20 秒</a:t>
            </a:r>
            <a:br/>
            <a:r>
              <a:t>超时自动回退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5029200"/>
            <a:ext cx="2560320" cy="13716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CFF"/>
                </a:solidFill>
                <a:latin typeface="Microsoft YaHei"/>
              </a:defRPr>
            </a:pPr>
            <a:r>
              <a:t>中文检测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&gt;30% 中文字符</a:t>
            </a:r>
            <a:br/>
            <a:r>
              <a:t>跳过翻译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团队管理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邀请团队成员，分配角色权限，管理账号状态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🎭 角色权限体系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25603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YaHei"/>
              </a:defRPr>
            </a:pPr>
            <a:r>
              <a:t>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拥有者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全部权限</a:t>
            </a:r>
            <a:br/>
            <a:r>
              <a:t>可删除成员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468880"/>
            <a:ext cx="25603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200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管理员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邀请/编辑成员</a:t>
            </a:r>
            <a:br/>
            <a:r>
              <a:t>管理所有功能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468880"/>
            <a:ext cx="25603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00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普通成员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使用转发功能</a:t>
            </a:r>
            <a:br/>
            <a:r>
              <a:t>不能管理成员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2468880"/>
            <a:ext cx="25603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YaHei"/>
              </a:defRPr>
            </a:pPr>
            <a:r>
              <a:t>👁️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5A5"/>
                </a:solidFill>
                <a:latin typeface="Microsoft YaHei"/>
              </a:defRPr>
            </a:pPr>
            <a:r>
              <a:t>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200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观察者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只读查看</a:t>
            </a:r>
            <a:br/>
            <a:r>
              <a:t>不能修改配置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Microsoft YaHei"/>
              </a:defRPr>
            </a:pPr>
            <a:r>
              <a:t>📝 管理操作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29200"/>
            <a:ext cx="5303520" cy="15544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206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邀请成员 — 设置用户名/密码/邮箱/角色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编辑角色 — 调整成员权限等级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禁用/启用 — 临时冻结或恢复账号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00C853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移除成员 — 永久删除（仅 Owner）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029200"/>
            <a:ext cx="5303520" cy="15544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120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00"/>
                </a:solidFill>
                <a:latin typeface="Microsoft YaHei"/>
              </a:defRPr>
            </a:pPr>
            <a:r>
              <a:t>⚠️ 安全规则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440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不能禁用或删除自己的账号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用户名全局唯一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所有操作记录审计日志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订阅与配额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灵活的套餐方案，免费版与专业版满足不同需求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4114800" cy="4114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2103120"/>
            <a:ext cx="3931920" cy="38100"/>
          </a:xfrm>
          <a:prstGeom prst="rect">
            <a:avLst/>
          </a:prstGeom>
          <a:solidFill>
            <a:srgbClr val="8A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A95A5"/>
                </a:solidFill>
                <a:latin typeface="Microsoft YaHei"/>
              </a:defRPr>
            </a:pPr>
            <a:r>
              <a:t>🆓 免费版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¥0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5A5"/>
                </a:solidFill>
                <a:latin typeface="Microsoft YaHei"/>
              </a:defRPr>
            </a:pPr>
            <a:r>
              <a:t>永久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100 条消息/天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1 个 Telegram 账号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3 条转发映射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2 个钉钉机器人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1 个团队成员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011680"/>
            <a:ext cx="4114800" cy="4114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103120"/>
            <a:ext cx="39319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💎 专业版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¥999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5A5"/>
                </a:solidFill>
                <a:latin typeface="Microsoft YaHei"/>
              </a:defRPr>
            </a:pPr>
            <a:r>
              <a:t>一次性付费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无限消息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无限 Telegram 账号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无限转发映射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无限钉钉机器人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✅  无限团队成员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309360"/>
            <a:ext cx="11155680" cy="3657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327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📊 用量可视化：仪表盘实时展示各维度配额使用进度条     •     付费用户自动跳过配额检查     •     支持随时升降级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Microsoft YaHei"/>
              </a:defRPr>
            </a:pPr>
            <a:r>
              <a:t>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审计日志 &amp; 平台管理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1887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  <a:latin typeface="Microsoft YaHei"/>
              </a:defRPr>
            </a:pPr>
            <a:r>
              <a:t>完整的操作追踪，强大的平台级管理能力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📋 审计日志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737360" cy="21031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操作日志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记录所有关键操作</a:t>
            </a:r>
            <a:br/>
            <a:r>
              <a:t>支持日期范围筛选</a:t>
            </a:r>
            <a:br/>
            <a:r>
              <a:t>支持操作类型搜索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468880"/>
            <a:ext cx="1737360" cy="21031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26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登录日志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91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记录登录/登出事件</a:t>
            </a:r>
            <a:br/>
            <a:r>
              <a:t>记录 IP 地址</a:t>
            </a:r>
            <a:br/>
            <a:r>
              <a:t>记录 User-Agent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468880"/>
            <a:ext cx="1737360" cy="21031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26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  <a:latin typeface="Microsoft YaHei"/>
              </a:defRPr>
            </a:pPr>
            <a:r>
              <a:t>API 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91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记录所有 API 调用</a:t>
            </a:r>
            <a:br/>
            <a:r>
              <a:t>请求方法/路径/状态码</a:t>
            </a:r>
            <a:br/>
            <a:r>
              <a:t>响应耗时统计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5486400" cy="1645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CFF"/>
                </a:solidFill>
                <a:latin typeface="Microsoft YaHei"/>
              </a:defRPr>
            </a:pPr>
            <a:r>
              <a:t>📊 统计与导出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900">
                <a:solidFill>
                  <a:srgbClr val="A85CFF"/>
                </a:solidFill>
                <a:latin typeface="Microsoft YaHei"/>
              </a:rPr>
              <a:t>● </a:t>
            </a:r>
            <a:r>
              <a:rPr sz="1100">
                <a:solidFill>
                  <a:srgbClr val="B0C4DE"/>
                </a:solidFill>
                <a:latin typeface="Microsoft YaHei"/>
              </a:rPr>
              <a:t>7 日操作/登录/API/失败登录 汇总统计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900">
                <a:solidFill>
                  <a:srgbClr val="A85CFF"/>
                </a:solidFill>
                <a:latin typeface="Microsoft YaHei"/>
              </a:rPr>
              <a:t>● </a:t>
            </a:r>
            <a:r>
              <a:rPr sz="1100">
                <a:solidFill>
                  <a:srgbClr val="B0C4DE"/>
                </a:solidFill>
                <a:latin typeface="Microsoft YaHei"/>
              </a:rPr>
              <a:t>一键导出 CSV 文件（中文表头）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900">
                <a:solidFill>
                  <a:srgbClr val="A85CFF"/>
                </a:solidFill>
                <a:latin typeface="Microsoft YaHei"/>
              </a:rPr>
              <a:t>● </a:t>
            </a:r>
            <a:r>
              <a:rPr sz="1100">
                <a:solidFill>
                  <a:srgbClr val="B0C4DE"/>
                </a:solidFill>
                <a:latin typeface="Microsoft YaHei"/>
              </a:rPr>
              <a:t>平均响应耗时统计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00"/>
                </a:solidFill>
                <a:latin typeface="Microsoft YaHei"/>
              </a:defRPr>
            </a:pPr>
            <a:r>
              <a:t>🏢 平台管理后台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468880"/>
            <a:ext cx="5303520" cy="39319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全局统计面板 — 活跃租户/总用户/今日消息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租户列表管理 — 查看所有租户详情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套餐变更 — 为租户升级/降级套餐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状态控制 — 激活/暂停租户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套餐分布 — 各套餐租户数量统计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仅平台管理员可访问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F00"/>
                </a:solidFill>
                <a:latin typeface="Microsoft YaHei"/>
              </a:rPr>
              <a:t>● </a:t>
            </a:r>
            <a:r>
              <a:rPr sz="1200">
                <a:solidFill>
                  <a:srgbClr val="B0C4DE"/>
                </a:solidFill>
                <a:latin typeface="Microsoft YaHei"/>
              </a:rPr>
              <a:t>暂停租户后其所有用户无法登录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828800" y="-1828800"/>
            <a:ext cx="5486400" cy="5486400"/>
          </a:xfrm>
          <a:prstGeom prst="round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4572000"/>
            <a:ext cx="4572000" cy="4572000"/>
          </a:xfrm>
          <a:prstGeom prst="round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66751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Microsoft YaHei"/>
              </a:defRPr>
            </a:pPr>
            <a:r>
              <a:t>T2D Cloud — Telegram → 钉钉 智能转发平台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566160"/>
            <a:ext cx="667512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4114800"/>
            <a:ext cx="75895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420624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53"/>
                </a:solidFill>
                <a:latin typeface="Microsoft YaHei"/>
              </a:defRPr>
            </a:pPr>
            <a:r>
              <a:t>🚀 快速部署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6177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onsolas"/>
              </a:defRPr>
            </a:pPr>
            <a:r>
              <a:t>$ git clone https://github.com/bye6781/t2d-saas.git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937759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onsolas"/>
              </a:defRPr>
            </a:pPr>
            <a:r>
              <a:t>$ docker build -t t2d-saas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2578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onsolas"/>
              </a:defRPr>
            </a:pPr>
            <a:r>
              <a:t>$ docker run -d --name t2d-saas -p 8001:8000 t2d-saas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  <a:latin typeface="Microsoft YaHei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